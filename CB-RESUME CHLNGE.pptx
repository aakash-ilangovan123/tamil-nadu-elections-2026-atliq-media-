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hivo Black" charset="1" panose="020B0A03020202020B04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516700"/>
            <a:ext cx="18288000" cy="213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3"/>
              </a:lnSpc>
            </a:pPr>
            <a:r>
              <a:rPr lang="en-US" sz="9140" spc="36">
                <a:solidFill>
                  <a:srgbClr val="DB4406"/>
                </a:solidFill>
                <a:latin typeface="Archivo Black"/>
                <a:ea typeface="Archivo Black"/>
                <a:cs typeface="Archivo Black"/>
                <a:sym typeface="Archivo Black"/>
              </a:rPr>
              <a:t>108 SEATS. ZERO HISTORY. ONE ELECTION NIGHT.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69495" y="6039129"/>
            <a:ext cx="13749009" cy="63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7"/>
              </a:lnSpc>
            </a:pPr>
            <a:r>
              <a:rPr lang="en-US" sz="368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READING THE RESULTS. NO SPIN. JUST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29359" y="9404381"/>
            <a:ext cx="6272553" cy="36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7"/>
              </a:lnSpc>
            </a:pPr>
            <a:r>
              <a:rPr lang="en-US" sz="22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PRESENTED TO ATLIQ MEDIA | 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85864"/>
            <a:ext cx="18461384" cy="65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7"/>
              </a:lnSpc>
            </a:pPr>
            <a:r>
              <a:rPr lang="en-US" sz="5418" spc="21">
                <a:solidFill>
                  <a:srgbClr val="DB4406"/>
                </a:solidFill>
                <a:latin typeface="Archivo Black"/>
                <a:ea typeface="Archivo Black"/>
                <a:cs typeface="Archivo Black"/>
                <a:sym typeface="Archivo Black"/>
              </a:rPr>
              <a:t>7 IN 10 CONSTITUENCIES CHANGED HANDS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788579"/>
            <a:ext cx="18288000" cy="47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MOST SEATS TO FLIP IN A SINGLE TAMIL NADU ELECTION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972" y="9298362"/>
            <a:ext cx="16577328" cy="67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7"/>
              </a:lnSpc>
            </a:pPr>
            <a:r>
              <a:rPr lang="en-US" sz="3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"70% OF TAMIL NADU VOTED DIFFERENTLY IN 2026 THAN IN 2021"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50335" y="1916057"/>
            <a:ext cx="16230600" cy="6686979"/>
          </a:xfrm>
          <a:custGeom>
            <a:avLst/>
            <a:gdLst/>
            <a:ahLst/>
            <a:cxnLst/>
            <a:rect r="r" b="b" t="t" l="l"/>
            <a:pathLst>
              <a:path h="6686979" w="16230600">
                <a:moveTo>
                  <a:pt x="0" y="0"/>
                </a:moveTo>
                <a:lnTo>
                  <a:pt x="16230600" y="0"/>
                </a:lnTo>
                <a:lnTo>
                  <a:pt x="16230600" y="6686980"/>
                </a:lnTo>
                <a:lnTo>
                  <a:pt x="0" y="6686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54" r="0" b="-797"/>
            </a:stretch>
          </a:blipFill>
        </p:spPr>
      </p:sp>
      <p:sp>
        <p:nvSpPr>
          <p:cNvPr name="Freeform 9" id="9"/>
          <p:cNvSpPr/>
          <p:nvPr/>
        </p:nvSpPr>
        <p:spPr>
          <a:xfrm>
            <a:off x="2421249" y="4071928"/>
            <a:ext cx="13023293" cy="2186361"/>
          </a:xfrm>
          <a:custGeom>
            <a:avLst/>
            <a:gdLst/>
            <a:ahLst/>
            <a:cxnLst/>
            <a:rect r="r" b="b" t="t" l="l"/>
            <a:pathLst>
              <a:path h="2186361" w="13023293">
                <a:moveTo>
                  <a:pt x="0" y="2186361"/>
                </a:moveTo>
                <a:quadBezTo>
                  <a:pt x="9895471" y="1293092"/>
                  <a:pt x="13023293" y="0"/>
                </a:quadBezTo>
              </a:path>
            </a:pathLst>
          </a:cu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158165" y="6028091"/>
            <a:ext cx="526167" cy="460396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62220" y="5797893"/>
            <a:ext cx="526167" cy="460396"/>
            <a:chOff x="0" y="0"/>
            <a:chExt cx="812800" cy="711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66275" y="5567694"/>
            <a:ext cx="526167" cy="460396"/>
            <a:chOff x="0" y="0"/>
            <a:chExt cx="812800" cy="711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73543" y="5567694"/>
            <a:ext cx="526167" cy="460396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80916" y="5337496"/>
            <a:ext cx="526167" cy="460396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91414" y="4913302"/>
            <a:ext cx="526167" cy="460396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01911" y="4799151"/>
            <a:ext cx="526167" cy="460396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22964" y="4254664"/>
            <a:ext cx="526167" cy="544487"/>
            <a:chOff x="0" y="0"/>
            <a:chExt cx="812800" cy="841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41100"/>
            </a:xfrm>
            <a:custGeom>
              <a:avLst/>
              <a:gdLst/>
              <a:ahLst/>
              <a:cxnLst/>
              <a:rect r="r" b="b" t="t" l="l"/>
              <a:pathLst>
                <a:path h="841100" w="812800">
                  <a:moveTo>
                    <a:pt x="406400" y="8411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8411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7000" y="21979"/>
              <a:ext cx="558800" cy="428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975076" y="3613683"/>
            <a:ext cx="732549" cy="640981"/>
            <a:chOff x="0" y="0"/>
            <a:chExt cx="812800" cy="71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ED957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1129" y="1784843"/>
            <a:ext cx="3647655" cy="1978853"/>
          </a:xfrm>
          <a:custGeom>
            <a:avLst/>
            <a:gdLst/>
            <a:ahLst/>
            <a:cxnLst/>
            <a:rect r="r" b="b" t="t" l="l"/>
            <a:pathLst>
              <a:path h="1978853" w="3647655">
                <a:moveTo>
                  <a:pt x="0" y="0"/>
                </a:moveTo>
                <a:lnTo>
                  <a:pt x="3647654" y="0"/>
                </a:lnTo>
                <a:lnTo>
                  <a:pt x="3647654" y="1978853"/>
                </a:lnTo>
                <a:lnTo>
                  <a:pt x="0" y="1978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64576" y="1784843"/>
            <a:ext cx="3707090" cy="1978853"/>
          </a:xfrm>
          <a:custGeom>
            <a:avLst/>
            <a:gdLst/>
            <a:ahLst/>
            <a:cxnLst/>
            <a:rect r="r" b="b" t="t" l="l"/>
            <a:pathLst>
              <a:path h="1978853" w="3707090">
                <a:moveTo>
                  <a:pt x="0" y="0"/>
                </a:moveTo>
                <a:lnTo>
                  <a:pt x="3707089" y="0"/>
                </a:lnTo>
                <a:lnTo>
                  <a:pt x="3707089" y="1978853"/>
                </a:lnTo>
                <a:lnTo>
                  <a:pt x="0" y="1978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1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17458" y="1784843"/>
            <a:ext cx="3707090" cy="2084443"/>
          </a:xfrm>
          <a:custGeom>
            <a:avLst/>
            <a:gdLst/>
            <a:ahLst/>
            <a:cxnLst/>
            <a:rect r="r" b="b" t="t" l="l"/>
            <a:pathLst>
              <a:path h="2084443" w="3707090">
                <a:moveTo>
                  <a:pt x="0" y="0"/>
                </a:moveTo>
                <a:lnTo>
                  <a:pt x="3707089" y="0"/>
                </a:lnTo>
                <a:lnTo>
                  <a:pt x="3707089" y="2084443"/>
                </a:lnTo>
                <a:lnTo>
                  <a:pt x="0" y="2084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174" r="0" b="-917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94358" y="6354659"/>
            <a:ext cx="3647655" cy="2308960"/>
          </a:xfrm>
          <a:custGeom>
            <a:avLst/>
            <a:gdLst/>
            <a:ahLst/>
            <a:cxnLst/>
            <a:rect r="r" b="b" t="t" l="l"/>
            <a:pathLst>
              <a:path h="2308960" w="3647655">
                <a:moveTo>
                  <a:pt x="0" y="0"/>
                </a:moveTo>
                <a:lnTo>
                  <a:pt x="3647654" y="0"/>
                </a:lnTo>
                <a:lnTo>
                  <a:pt x="3647654" y="2308960"/>
                </a:lnTo>
                <a:lnTo>
                  <a:pt x="0" y="2308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2" b="-5395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3394956" y="4834935"/>
            <a:ext cx="565288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018185" y="4825410"/>
            <a:ext cx="562316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999070" y="4825410"/>
            <a:ext cx="0" cy="13174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782914" y="5901735"/>
            <a:ext cx="432314" cy="378274"/>
            <a:chOff x="0" y="0"/>
            <a:chExt cx="812800" cy="71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71129" y="-152400"/>
            <a:ext cx="15145743" cy="131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3"/>
              </a:lnSpc>
              <a:spcBef>
                <a:spcPct val="0"/>
              </a:spcBef>
            </a:pPr>
            <a:r>
              <a:rPr lang="en-US" sz="7702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WHERE DID THE SEATS GO?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08090" y="4007949"/>
            <a:ext cx="1571555" cy="81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8"/>
              </a:lnSpc>
              <a:spcBef>
                <a:spcPct val="0"/>
              </a:spcBef>
            </a:pPr>
            <a:r>
              <a:rPr lang="en-US" sz="467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57462" y="4122465"/>
            <a:ext cx="118075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1129" y="1113962"/>
            <a:ext cx="3647655" cy="67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7"/>
              </a:lnSpc>
              <a:spcBef>
                <a:spcPct val="0"/>
              </a:spcBef>
            </a:pPr>
            <a:r>
              <a:rPr lang="en-US" b="true" sz="39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DMK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4011" y="1113962"/>
            <a:ext cx="3647655" cy="67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7"/>
              </a:lnSpc>
              <a:spcBef>
                <a:spcPct val="0"/>
              </a:spcBef>
            </a:pPr>
            <a:r>
              <a:rPr lang="en-US" b="true" sz="39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AIADMK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17458" y="1113962"/>
            <a:ext cx="3647655" cy="67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7"/>
              </a:lnSpc>
              <a:spcBef>
                <a:spcPct val="0"/>
              </a:spcBef>
            </a:pPr>
            <a:r>
              <a:rPr lang="en-US" b="true" sz="39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64576" y="8587419"/>
            <a:ext cx="3647655" cy="67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7"/>
              </a:lnSpc>
              <a:spcBef>
                <a:spcPct val="0"/>
              </a:spcBef>
            </a:pPr>
            <a:r>
              <a:rPr lang="en-US" b="true" sz="396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TVK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66981" y="4233542"/>
            <a:ext cx="1180752" cy="6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2"/>
              </a:lnSpc>
              <a:spcBef>
                <a:spcPct val="0"/>
              </a:spcBef>
            </a:pPr>
            <a:r>
              <a:rPr lang="en-US" sz="35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96162" y="9277350"/>
            <a:ext cx="18384162" cy="1028700"/>
            <a:chOff x="0" y="0"/>
            <a:chExt cx="4841919" cy="2709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41919" cy="270933"/>
            </a:xfrm>
            <a:custGeom>
              <a:avLst/>
              <a:gdLst/>
              <a:ahLst/>
              <a:cxnLst/>
              <a:rect r="r" b="b" t="t" l="l"/>
              <a:pathLst>
                <a:path h="270933" w="4841919">
                  <a:moveTo>
                    <a:pt x="0" y="0"/>
                  </a:moveTo>
                  <a:lnTo>
                    <a:pt x="4841919" y="0"/>
                  </a:lnTo>
                  <a:lnTo>
                    <a:pt x="4841919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4191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024464" y="9477376"/>
            <a:ext cx="11949212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EDE7DD"/>
                </a:solidFill>
                <a:latin typeface="Inter Bold"/>
                <a:ea typeface="Inter Bold"/>
                <a:cs typeface="Inter Bold"/>
                <a:sym typeface="Inter Bold"/>
              </a:rPr>
              <a:t>TVK ENTERED WITH ZERO SEATS. LEFT WITH 108.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162" y="9277350"/>
            <a:ext cx="18384162" cy="1028700"/>
            <a:chOff x="0" y="0"/>
            <a:chExt cx="484191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919" cy="270933"/>
            </a:xfrm>
            <a:custGeom>
              <a:avLst/>
              <a:gdLst/>
              <a:ahLst/>
              <a:cxnLst/>
              <a:rect r="r" b="b" t="t" l="l"/>
              <a:pathLst>
                <a:path h="270933" w="4841919">
                  <a:moveTo>
                    <a:pt x="0" y="0"/>
                  </a:moveTo>
                  <a:lnTo>
                    <a:pt x="4841919" y="0"/>
                  </a:lnTo>
                  <a:lnTo>
                    <a:pt x="4841919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191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411" y="1010447"/>
            <a:ext cx="17905016" cy="7909163"/>
          </a:xfrm>
          <a:custGeom>
            <a:avLst/>
            <a:gdLst/>
            <a:ahLst/>
            <a:cxnLst/>
            <a:rect r="r" b="b" t="t" l="l"/>
            <a:pathLst>
              <a:path h="7909163" w="17905016">
                <a:moveTo>
                  <a:pt x="0" y="0"/>
                </a:moveTo>
                <a:lnTo>
                  <a:pt x="17905016" y="0"/>
                </a:lnTo>
                <a:lnTo>
                  <a:pt x="17905016" y="7909163"/>
                </a:lnTo>
                <a:lnTo>
                  <a:pt x="0" y="7909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763" r="0" b="-1876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2984" y="-95250"/>
            <a:ext cx="17522032" cy="747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3"/>
              </a:lnSpc>
              <a:spcBef>
                <a:spcPct val="0"/>
              </a:spcBef>
            </a:pPr>
            <a:r>
              <a:rPr lang="en-US" sz="4302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TVK'S 3.5 CRORE VOTES - WHERE DID THEY COME FROM?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9486" y="9486901"/>
            <a:ext cx="15739170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EDE7DD"/>
                </a:solidFill>
                <a:latin typeface="Inter Bold"/>
                <a:ea typeface="Inter Bold"/>
                <a:cs typeface="Inter Bold"/>
                <a:sym typeface="Inter Bold"/>
              </a:rPr>
              <a:t>NTK SHED 10.7 LAKH VOTES. DMK SHED 1.3 CRORE. AIADMK SHED 93 LAKH.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162" y="9277350"/>
            <a:ext cx="18384162" cy="1028700"/>
            <a:chOff x="0" y="0"/>
            <a:chExt cx="484191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919" cy="270933"/>
            </a:xfrm>
            <a:custGeom>
              <a:avLst/>
              <a:gdLst/>
              <a:ahLst/>
              <a:cxnLst/>
              <a:rect r="r" b="b" t="t" l="l"/>
              <a:pathLst>
                <a:path h="270933" w="4841919">
                  <a:moveTo>
                    <a:pt x="0" y="0"/>
                  </a:moveTo>
                  <a:lnTo>
                    <a:pt x="4841919" y="0"/>
                  </a:lnTo>
                  <a:lnTo>
                    <a:pt x="4841919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191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82035" y="669218"/>
            <a:ext cx="14187785" cy="8383890"/>
          </a:xfrm>
          <a:custGeom>
            <a:avLst/>
            <a:gdLst/>
            <a:ahLst/>
            <a:cxnLst/>
            <a:rect r="r" b="b" t="t" l="l"/>
            <a:pathLst>
              <a:path h="8383890" w="14187785">
                <a:moveTo>
                  <a:pt x="0" y="0"/>
                </a:moveTo>
                <a:lnTo>
                  <a:pt x="14187785" y="0"/>
                </a:lnTo>
                <a:lnTo>
                  <a:pt x="14187785" y="8383890"/>
                </a:lnTo>
                <a:lnTo>
                  <a:pt x="0" y="838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28" t="-15327" r="-29313" b="-763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6094" y="-95250"/>
            <a:ext cx="16495812" cy="78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3"/>
              </a:lnSpc>
              <a:spcBef>
                <a:spcPct val="0"/>
              </a:spcBef>
            </a:pPr>
            <a:r>
              <a:rPr lang="en-US" sz="4502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TVK'S WIN WAS UNEVEN — AND THAT'S THE STORY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2035" y="9486901"/>
            <a:ext cx="13834071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EDE7DD"/>
                </a:solidFill>
                <a:latin typeface="Inter Bold"/>
                <a:ea typeface="Inter Bold"/>
                <a:cs typeface="Inter Bold"/>
                <a:sym typeface="Inter Bold"/>
              </a:rPr>
              <a:t>DELTA AND NORTH — THE REGIONS TVK DIDN'T DOMINATE.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162" y="8326017"/>
            <a:ext cx="18384162" cy="1980033"/>
            <a:chOff x="0" y="0"/>
            <a:chExt cx="4841919" cy="52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919" cy="521490"/>
            </a:xfrm>
            <a:custGeom>
              <a:avLst/>
              <a:gdLst/>
              <a:ahLst/>
              <a:cxnLst/>
              <a:rect r="r" b="b" t="t" l="l"/>
              <a:pathLst>
                <a:path h="521490" w="4841919">
                  <a:moveTo>
                    <a:pt x="0" y="0"/>
                  </a:moveTo>
                  <a:lnTo>
                    <a:pt x="4841919" y="0"/>
                  </a:lnTo>
                  <a:lnTo>
                    <a:pt x="4841919" y="521490"/>
                  </a:lnTo>
                  <a:lnTo>
                    <a:pt x="0" y="5214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1919" cy="559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92288" y="2391973"/>
            <a:ext cx="3282312" cy="1208072"/>
            <a:chOff x="0" y="0"/>
            <a:chExt cx="864477" cy="318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4477" cy="318175"/>
            </a:xfrm>
            <a:custGeom>
              <a:avLst/>
              <a:gdLst/>
              <a:ahLst/>
              <a:cxnLst/>
              <a:rect r="r" b="b" t="t" l="l"/>
              <a:pathLst>
                <a:path h="318175" w="864477">
                  <a:moveTo>
                    <a:pt x="0" y="0"/>
                  </a:moveTo>
                  <a:lnTo>
                    <a:pt x="864477" y="0"/>
                  </a:lnTo>
                  <a:lnTo>
                    <a:pt x="864477" y="318175"/>
                  </a:lnTo>
                  <a:lnTo>
                    <a:pt x="0" y="318175"/>
                  </a:lnTo>
                  <a:close/>
                </a:path>
              </a:pathLst>
            </a:custGeom>
            <a:solidFill>
              <a:srgbClr val="A8330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64477" cy="35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92288" y="5362170"/>
            <a:ext cx="3282312" cy="1208072"/>
            <a:chOff x="0" y="0"/>
            <a:chExt cx="864477" cy="3181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4477" cy="318175"/>
            </a:xfrm>
            <a:custGeom>
              <a:avLst/>
              <a:gdLst/>
              <a:ahLst/>
              <a:cxnLst/>
              <a:rect r="r" b="b" t="t" l="l"/>
              <a:pathLst>
                <a:path h="318175" w="864477">
                  <a:moveTo>
                    <a:pt x="0" y="0"/>
                  </a:moveTo>
                  <a:lnTo>
                    <a:pt x="864477" y="0"/>
                  </a:lnTo>
                  <a:lnTo>
                    <a:pt x="864477" y="318175"/>
                  </a:lnTo>
                  <a:lnTo>
                    <a:pt x="0" y="318175"/>
                  </a:lnTo>
                  <a:close/>
                </a:path>
              </a:pathLst>
            </a:custGeom>
            <a:solidFill>
              <a:srgbClr val="A8330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64477" cy="356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6598185" y="5432521"/>
            <a:ext cx="632197" cy="520633"/>
            <a:chOff x="0" y="0"/>
            <a:chExt cx="647700" cy="533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615351"/>
            <a:ext cx="18288000" cy="73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4"/>
              </a:lnSpc>
              <a:spcBef>
                <a:spcPct val="0"/>
              </a:spcBef>
            </a:pPr>
            <a:r>
              <a:rPr lang="en-US" sz="4202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A SQUEEZED ELECTION CLOSER THAN THE SEATS SUGGEST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8630817"/>
            <a:ext cx="18288000" cy="129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EDE7DD"/>
                </a:solidFill>
                <a:latin typeface="Inter Bold"/>
                <a:ea typeface="Inter Bold"/>
                <a:cs typeface="Inter Bold"/>
                <a:sym typeface="Inter Bold"/>
              </a:rPr>
              <a:t>61 SEATS WERE WON WITH LESS THAN 35% OF VALID VOTES - IN A FRAGMENTED FIELD, A SPLIT OPPOSITION HANDED TVK THE MAP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92288" y="2646441"/>
            <a:ext cx="328231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4EEE3"/>
                </a:solidFill>
                <a:latin typeface="Inter Bold"/>
                <a:ea typeface="Inter Bold"/>
                <a:cs typeface="Inter Bold"/>
                <a:sym typeface="Inter Bold"/>
              </a:rPr>
              <a:t> 2021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92288" y="5616638"/>
            <a:ext cx="328231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4EEE3"/>
                </a:solidFill>
                <a:latin typeface="Inter Bold"/>
                <a:ea typeface="Inter Bold"/>
                <a:cs typeface="Inter Bold"/>
                <a:sym typeface="Inter Bold"/>
              </a:rPr>
              <a:t>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64594" y="2671206"/>
            <a:ext cx="5826323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AVG MARGIN - 22,871 VOTES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55962" y="5616638"/>
            <a:ext cx="5843588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AVG MARGIN - 16,784 VOTES</a:t>
            </a:r>
          </a:p>
        </p:txBody>
      </p:sp>
      <p:grpSp>
        <p:nvGrpSpPr>
          <p:cNvPr name="Group 20" id="20"/>
          <p:cNvGrpSpPr/>
          <p:nvPr/>
        </p:nvGrpSpPr>
        <p:grpSpPr>
          <a:xfrm rot="5400000">
            <a:off x="6598185" y="3051791"/>
            <a:ext cx="632197" cy="520633"/>
            <a:chOff x="0" y="0"/>
            <a:chExt cx="6477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162" y="9258300"/>
            <a:ext cx="18384162" cy="1047750"/>
            <a:chOff x="0" y="0"/>
            <a:chExt cx="4841919" cy="275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919" cy="275951"/>
            </a:xfrm>
            <a:custGeom>
              <a:avLst/>
              <a:gdLst/>
              <a:ahLst/>
              <a:cxnLst/>
              <a:rect r="r" b="b" t="t" l="l"/>
              <a:pathLst>
                <a:path h="275951" w="4841919">
                  <a:moveTo>
                    <a:pt x="0" y="0"/>
                  </a:moveTo>
                  <a:lnTo>
                    <a:pt x="4841919" y="0"/>
                  </a:lnTo>
                  <a:lnTo>
                    <a:pt x="4841919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1919" cy="31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45289" y="1626115"/>
            <a:ext cx="11301259" cy="6314578"/>
          </a:xfrm>
          <a:custGeom>
            <a:avLst/>
            <a:gdLst/>
            <a:ahLst/>
            <a:cxnLst/>
            <a:rect r="r" b="b" t="t" l="l"/>
            <a:pathLst>
              <a:path h="6314578" w="11301259">
                <a:moveTo>
                  <a:pt x="0" y="0"/>
                </a:moveTo>
                <a:lnTo>
                  <a:pt x="11301259" y="0"/>
                </a:lnTo>
                <a:lnTo>
                  <a:pt x="11301259" y="6314578"/>
                </a:lnTo>
                <a:lnTo>
                  <a:pt x="0" y="6314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96162" y="278203"/>
            <a:ext cx="18288000" cy="96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3"/>
              </a:lnSpc>
              <a:spcBef>
                <a:spcPct val="0"/>
              </a:spcBef>
            </a:pPr>
            <a:r>
              <a:rPr lang="en-US" sz="5602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THREE NUMBERS FOR THE SHOW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7581" y="9424352"/>
            <a:ext cx="16576675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EDE7DD"/>
                </a:solidFill>
                <a:latin typeface="Inter Bold"/>
                <a:ea typeface="Inter Bold"/>
                <a:cs typeface="Inter Bold"/>
                <a:sym typeface="Inter Bold"/>
              </a:rPr>
              <a:t>SOURCE: ECI DATA ONLY · NO SPIN. NO COMMENTARY. JUST NUMBERS.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162" y="9258300"/>
            <a:ext cx="18384162" cy="1047750"/>
            <a:chOff x="0" y="0"/>
            <a:chExt cx="4841919" cy="275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919" cy="275951"/>
            </a:xfrm>
            <a:custGeom>
              <a:avLst/>
              <a:gdLst/>
              <a:ahLst/>
              <a:cxnLst/>
              <a:rect r="r" b="b" t="t" l="l"/>
              <a:pathLst>
                <a:path h="275951" w="4841919">
                  <a:moveTo>
                    <a:pt x="0" y="0"/>
                  </a:moveTo>
                  <a:lnTo>
                    <a:pt x="4841919" y="0"/>
                  </a:lnTo>
                  <a:lnTo>
                    <a:pt x="4841919" y="275951"/>
                  </a:lnTo>
                  <a:lnTo>
                    <a:pt x="0" y="27595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1919" cy="31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83135" y="1480534"/>
            <a:ext cx="14721730" cy="7325932"/>
          </a:xfrm>
          <a:custGeom>
            <a:avLst/>
            <a:gdLst/>
            <a:ahLst/>
            <a:cxnLst/>
            <a:rect r="r" b="b" t="t" l="l"/>
            <a:pathLst>
              <a:path h="7325932" w="14721730">
                <a:moveTo>
                  <a:pt x="0" y="0"/>
                </a:moveTo>
                <a:lnTo>
                  <a:pt x="14721730" y="0"/>
                </a:lnTo>
                <a:lnTo>
                  <a:pt x="14721730" y="7325932"/>
                </a:lnTo>
                <a:lnTo>
                  <a:pt x="0" y="7325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9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83135" y="7900683"/>
            <a:ext cx="14721730" cy="905783"/>
            <a:chOff x="0" y="0"/>
            <a:chExt cx="3227815" cy="1985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27815" cy="198598"/>
            </a:xfrm>
            <a:custGeom>
              <a:avLst/>
              <a:gdLst/>
              <a:ahLst/>
              <a:cxnLst/>
              <a:rect r="r" b="b" t="t" l="l"/>
              <a:pathLst>
                <a:path h="198598" w="3227815">
                  <a:moveTo>
                    <a:pt x="3024615" y="0"/>
                  </a:moveTo>
                  <a:lnTo>
                    <a:pt x="0" y="0"/>
                  </a:lnTo>
                  <a:lnTo>
                    <a:pt x="0" y="198598"/>
                  </a:lnTo>
                  <a:lnTo>
                    <a:pt x="3024615" y="198598"/>
                  </a:lnTo>
                  <a:lnTo>
                    <a:pt x="3227815" y="99299"/>
                  </a:lnTo>
                  <a:lnTo>
                    <a:pt x="302461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13515" cy="23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96162" y="278203"/>
            <a:ext cx="18288000" cy="96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3"/>
              </a:lnSpc>
              <a:spcBef>
                <a:spcPct val="0"/>
              </a:spcBef>
            </a:pPr>
            <a:r>
              <a:rPr lang="en-US" sz="5602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SUGGESTED SHOW STRUCTURE - 60 MINUTES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7581" y="9424352"/>
            <a:ext cx="16576675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EDE7DD"/>
                </a:solidFill>
                <a:latin typeface="Inter Bold"/>
                <a:ea typeface="Inter Bold"/>
                <a:cs typeface="Inter Bold"/>
                <a:sym typeface="Inter Bold"/>
              </a:rPr>
              <a:t>SOURCE: ECI DATA ONLY · NO SPIN. NO COMMENTARY. JUST NUMBERS.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162" y="8657677"/>
            <a:ext cx="18384162" cy="1648373"/>
            <a:chOff x="0" y="0"/>
            <a:chExt cx="4841919" cy="434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1919" cy="434139"/>
            </a:xfrm>
            <a:custGeom>
              <a:avLst/>
              <a:gdLst/>
              <a:ahLst/>
              <a:cxnLst/>
              <a:rect r="r" b="b" t="t" l="l"/>
              <a:pathLst>
                <a:path h="434139" w="4841919">
                  <a:moveTo>
                    <a:pt x="0" y="0"/>
                  </a:moveTo>
                  <a:lnTo>
                    <a:pt x="4841919" y="0"/>
                  </a:lnTo>
                  <a:lnTo>
                    <a:pt x="4841919" y="434139"/>
                  </a:lnTo>
                  <a:lnTo>
                    <a:pt x="0" y="43413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41919" cy="472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96162" y="278203"/>
            <a:ext cx="18288000" cy="96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3"/>
              </a:lnSpc>
              <a:spcBef>
                <a:spcPct val="0"/>
              </a:spcBef>
            </a:pPr>
            <a:r>
              <a:rPr lang="en-US" sz="5602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ALL DATA — ECI ONLY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4246" y="3013439"/>
            <a:ext cx="16210459" cy="378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5"/>
              </a:lnSpc>
              <a:spcBef>
                <a:spcPct val="0"/>
              </a:spcBef>
            </a:pPr>
            <a:r>
              <a:rPr lang="en-US" sz="43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SOURCES LISTED CLEANLY:</a:t>
            </a:r>
          </a:p>
          <a:p>
            <a:pPr algn="l" marL="933812" indent="-466906" lvl="1">
              <a:lnSpc>
                <a:spcPts val="6055"/>
              </a:lnSpc>
              <a:buFont typeface="Arial"/>
              <a:buChar char="•"/>
            </a:pPr>
            <a:r>
              <a:rPr lang="en-US" sz="43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ELECTION COMMISSION OF INDIA — RESULTS.ECI.GOV.IN</a:t>
            </a:r>
          </a:p>
          <a:p>
            <a:pPr algn="l" marL="933812" indent="-466906" lvl="1">
              <a:lnSpc>
                <a:spcPts val="6055"/>
              </a:lnSpc>
              <a:buFont typeface="Arial"/>
              <a:buChar char="•"/>
            </a:pPr>
            <a:r>
              <a:rPr lang="en-US" sz="43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TRIVEDI CENTRE FOR POLITICAL DATA (2021 BASELINE)</a:t>
            </a:r>
          </a:p>
          <a:p>
            <a:pPr algn="l" marL="933812" indent="-466906" lvl="1">
              <a:lnSpc>
                <a:spcPts val="6055"/>
              </a:lnSpc>
              <a:buFont typeface="Arial"/>
              <a:buChar char="•"/>
            </a:pPr>
            <a:r>
              <a:rPr lang="en-US" sz="43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CODEBASICS PARTICIPANT DATA PACK</a:t>
            </a:r>
          </a:p>
          <a:p>
            <a:pPr algn="just">
              <a:lnSpc>
                <a:spcPts val="605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64118" y="8866549"/>
            <a:ext cx="17359765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EDE7DD"/>
                </a:solidFill>
                <a:latin typeface="Inter"/>
                <a:ea typeface="Inter"/>
                <a:cs typeface="Inter"/>
                <a:sym typeface="Inter"/>
              </a:rPr>
              <a:t>DISCLAIMER: "THIS PRESENTATION TAKES NO POLITICAL POSITION. ALL ANALYSIS IS BASED SOLELY ON PUBLICLY AVAILABLE ECI DATA."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D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31322"/>
            <a:ext cx="16868137" cy="231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35"/>
              </a:lnSpc>
            </a:pPr>
            <a:r>
              <a:rPr lang="en-US" sz="18500" spc="314">
                <a:solidFill>
                  <a:srgbClr val="A83303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98932" y="7724644"/>
            <a:ext cx="4946336" cy="104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32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DONE BY </a:t>
            </a:r>
          </a:p>
          <a:p>
            <a:pPr algn="l">
              <a:lnSpc>
                <a:spcPts val="4058"/>
              </a:lnSpc>
            </a:pPr>
            <a:r>
              <a:rPr lang="en-US" sz="32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AAKASH .I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DAHJ0MIsfcc</dc:identifier>
  <dcterms:modified xsi:type="dcterms:W3CDTF">2011-08-01T06:04:30Z</dcterms:modified>
  <cp:revision>1</cp:revision>
  <dc:title>CB-RESUME CHLNGE</dc:title>
</cp:coreProperties>
</file>